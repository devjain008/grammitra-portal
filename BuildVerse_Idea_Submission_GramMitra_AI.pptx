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uildverse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011680"/>
            <a:ext cx="5669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7253C0"/>
                </a:solidFill>
              </a:defRPr>
            </a:pPr>
            <a:r>
              <a:t>GramMitra AI</a:t>
            </a:r>
          </a:p>
          <a:p>
            <a:pPr>
              <a:spcBef>
                <a:spcPts val="1000"/>
              </a:spcBef>
              <a:defRPr sz="1600" i="1">
                <a:solidFill>
                  <a:srgbClr val="212121"/>
                </a:solidFill>
              </a:defRPr>
            </a:pPr>
            <a:r>
              <a:t>Voice-Enabled Rural Upliftment &amp; Localized Development Ecosystem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280160"/>
            <a:ext cx="5303520" cy="438912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7253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spcAft>
                <a:spcPts val="2000"/>
              </a:spcAft>
              <a:defRPr sz="2200" b="1">
                <a:solidFill>
                  <a:srgbClr val="7253C0"/>
                </a:solidFill>
              </a:defRPr>
            </a:pPr>
            <a:r>
              <a:t>TEAM DETAILS :</a:t>
            </a:r>
          </a:p>
          <a:p>
            <a:pPr>
              <a:spcAft>
                <a:spcPts val="1200"/>
              </a:spcAft>
              <a:defRPr sz="1300" b="1">
                <a:solidFill>
                  <a:srgbClr val="7253C0"/>
                </a:solidFill>
              </a:defRPr>
            </a:pPr>
            <a:r>
              <a:t>•  Team Name - </a:t>
            </a:r>
            <a:r>
              <a:rPr b="0">
                <a:solidFill>
                  <a:srgbClr val="212121"/>
                </a:solidFill>
              </a:rPr>
              <a:t>Innovators / GramMitra Creators</a:t>
            </a:r>
          </a:p>
          <a:p>
            <a:pPr>
              <a:spcAft>
                <a:spcPts val="1200"/>
              </a:spcAft>
              <a:defRPr sz="1300" b="1">
                <a:solidFill>
                  <a:srgbClr val="7253C0"/>
                </a:solidFill>
              </a:defRPr>
            </a:pPr>
            <a:r>
              <a:t>•  Theme - </a:t>
            </a:r>
            <a:r>
              <a:rPr b="0">
                <a:solidFill>
                  <a:srgbClr val="212121"/>
                </a:solidFill>
              </a:rPr>
              <a:t>Deep Tech for Rural &amp; Social Impact</a:t>
            </a:r>
          </a:p>
          <a:p>
            <a:pPr>
              <a:spcAft>
                <a:spcPts val="1200"/>
              </a:spcAft>
              <a:defRPr sz="1300" b="1">
                <a:solidFill>
                  <a:srgbClr val="7253C0"/>
                </a:solidFill>
              </a:defRPr>
            </a:pPr>
            <a:r>
              <a:t>•  Tracks - </a:t>
            </a:r>
            <a:r>
              <a:rPr b="0">
                <a:solidFill>
                  <a:srgbClr val="212121"/>
                </a:solidFill>
              </a:rPr>
              <a:t>Web/App Development, AI/ML, Accessibility</a:t>
            </a:r>
          </a:p>
          <a:p>
            <a:pPr>
              <a:spcAft>
                <a:spcPts val="1200"/>
              </a:spcAft>
              <a:defRPr sz="1300" b="1">
                <a:solidFill>
                  <a:srgbClr val="7253C0"/>
                </a:solidFill>
              </a:defRPr>
            </a:pPr>
            <a:r>
              <a:t>•  Project Name - </a:t>
            </a:r>
            <a:r>
              <a:rPr b="0">
                <a:solidFill>
                  <a:srgbClr val="212121"/>
                </a:solidFill>
              </a:rPr>
              <a:t>GramMitra AI</a:t>
            </a:r>
          </a:p>
          <a:p>
            <a:pPr>
              <a:spcAft>
                <a:spcPts val="1200"/>
              </a:spcAft>
              <a:defRPr sz="1300" b="1">
                <a:solidFill>
                  <a:srgbClr val="7253C0"/>
                </a:solidFill>
              </a:defRPr>
            </a:pPr>
            <a:r>
              <a:t>•  Team Leader - </a:t>
            </a:r>
            <a:r>
              <a:rPr b="0">
                <a:solidFill>
                  <a:srgbClr val="212121"/>
                </a:solidFill>
              </a:rPr>
              <a:t>Team Leader Name (Edit here)</a:t>
            </a:r>
          </a:p>
          <a:p>
            <a:pPr>
              <a:spcAft>
                <a:spcPts val="1200"/>
              </a:spcAft>
              <a:defRPr sz="1300" b="1">
                <a:solidFill>
                  <a:srgbClr val="7253C0"/>
                </a:solidFill>
              </a:defRPr>
            </a:pPr>
            <a:r>
              <a:t>•  College Name - </a:t>
            </a:r>
            <a:r>
              <a:rPr b="0">
                <a:solidFill>
                  <a:srgbClr val="212121"/>
                </a:solidFill>
              </a:rPr>
              <a:t>LNCT Group of Colleges, Bhopal</a:t>
            </a:r>
          </a:p>
        </p:txBody>
      </p:sp>
      <p:sp>
        <p:nvSpPr>
          <p:cNvPr id="5" name="Rectangle 4"/>
          <p:cNvSpPr/>
          <p:nvPr/>
        </p:nvSpPr>
        <p:spPr>
          <a:xfrm>
            <a:off x="11064240" y="6327648"/>
            <a:ext cx="822960" cy="502920"/>
          </a:xfrm>
          <a:prstGeom prst="rect">
            <a:avLst/>
          </a:prstGeom>
          <a:solidFill>
            <a:srgbClr val="7253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3550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uildverse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82296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7253C0"/>
                </a:solidFill>
                <a:latin typeface="Arial"/>
              </a:defRPr>
            </a:pPr>
            <a:r>
              <a:t>PROBLEM STATEMENT &amp; NEED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74552" cy="18288"/>
          </a:xfrm>
          <a:prstGeom prst="rect">
            <a:avLst/>
          </a:prstGeom>
          <a:solidFill>
            <a:srgbClr val="E04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7253C0"/>
                </a:solidFill>
              </a:defRPr>
            </a:pPr>
            <a:r>
              <a:t>Rural Digital Exclusion &amp; Literacy Gaps</a:t>
            </a:r>
          </a:p>
          <a:p>
            <a:pPr>
              <a:spcBef>
                <a:spcPts val="1000"/>
              </a:spcBef>
              <a:defRPr sz="1400" b="1">
                <a:solidFill>
                  <a:srgbClr val="E040FB"/>
                </a:solidFill>
              </a:defRPr>
            </a:pPr>
            <a:r>
              <a:t>❌ Dialect &amp; Literacy Barriers :</a:t>
            </a:r>
          </a:p>
          <a:p>
            <a:pPr>
              <a:spcBef>
                <a:spcPts val="200"/>
              </a:spcBef>
              <a:spcAft>
                <a:spcPts val="1000"/>
              </a:spcAft>
              <a:defRPr sz="1200">
                <a:solidFill>
                  <a:srgbClr val="212121"/>
                </a:solidFill>
              </a:defRPr>
            </a:pPr>
            <a:r>
              <a:t>More than 70% of the rural Indian population communicates exclusively in local regional languages. Standard MERN portals require typing in English, making them highly intimidating and unusable.</a:t>
            </a:r>
          </a:p>
          <a:p>
            <a:pPr>
              <a:spcBef>
                <a:spcPts val="1000"/>
              </a:spcBef>
              <a:defRPr sz="1400" b="1">
                <a:solidFill>
                  <a:srgbClr val="E040FB"/>
                </a:solidFill>
              </a:defRPr>
            </a:pPr>
            <a:r>
              <a:t>❌ Information Disconnection :</a:t>
            </a:r>
          </a:p>
          <a:p>
            <a:pPr>
              <a:spcBef>
                <a:spcPts val="200"/>
              </a:spcBef>
              <a:spcAft>
                <a:spcPts val="1000"/>
              </a:spcAft>
              <a:defRPr sz="1200">
                <a:solidFill>
                  <a:srgbClr val="212121"/>
                </a:solidFill>
              </a:defRPr>
            </a:pPr>
            <a:r>
              <a:t>Essential services (crop diagnostics, soil analysis, transport networks, hospital directories, local handymen, government schemes) are split across dozens of heavy, non-mobile friendly web links.</a:t>
            </a:r>
          </a:p>
          <a:p>
            <a:pPr>
              <a:spcBef>
                <a:spcPts val="1000"/>
              </a:spcBef>
              <a:defRPr sz="1400" b="1">
                <a:solidFill>
                  <a:srgbClr val="E040FB"/>
                </a:solidFill>
              </a:defRPr>
            </a:pPr>
            <a:r>
              <a:t>❌ Economic Exploitation :</a:t>
            </a:r>
          </a:p>
          <a:p>
            <a:pPr>
              <a:spcBef>
                <a:spcPts val="200"/>
              </a:spcBef>
              <a:spcAft>
                <a:spcPts val="1000"/>
              </a:spcAft>
              <a:defRPr sz="1200">
                <a:solidFill>
                  <a:srgbClr val="212121"/>
                </a:solidFill>
              </a:defRPr>
            </a:pPr>
            <a:r>
              <a:t>Micro-merchants and farmers lack a simple localized marketplace (Mandi) to list their stock, subjecting them to high commissions and pricing pressure by middlemen.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737360"/>
            <a:ext cx="4572000" cy="4023360"/>
          </a:xfrm>
          <a:prstGeom prst="roundRect">
            <a:avLst/>
          </a:prstGeom>
          <a:solidFill>
            <a:srgbClr val="F8F8FA"/>
          </a:solidFill>
          <a:ln w="19050">
            <a:solidFill>
              <a:srgbClr val="7253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spcAft>
                <a:spcPts val="2000"/>
              </a:spcAft>
              <a:defRPr sz="1800" b="1">
                <a:solidFill>
                  <a:srgbClr val="7253C0"/>
                </a:solidFill>
              </a:defRPr>
            </a:pPr>
            <a:r>
              <a:t>THE URGENT NEED</a:t>
            </a:r>
          </a:p>
          <a:p>
            <a:pPr>
              <a:spcBef>
                <a:spcPts val="1200"/>
              </a:spcBef>
              <a:spcAft>
                <a:spcPts val="1000"/>
              </a:spcAft>
              <a:defRPr sz="1200">
                <a:solidFill>
                  <a:srgbClr val="212121"/>
                </a:solidFill>
              </a:defRPr>
            </a:pPr>
            <a:r>
              <a:t>✔  A highly inclusive voice assistant that understands spoken dialects (Hindi &amp; English), supporting illiterate and senior citizens.</a:t>
            </a:r>
          </a:p>
          <a:p>
            <a:pPr>
              <a:spcBef>
                <a:spcPts val="1200"/>
              </a:spcBef>
              <a:spcAft>
                <a:spcPts val="1000"/>
              </a:spcAft>
              <a:defRPr sz="1200">
                <a:solidFill>
                  <a:srgbClr val="212121"/>
                </a:solidFill>
              </a:defRPr>
            </a:pPr>
            <a:r>
              <a:t>✔  A unified directory mapping nearest hospitals, schools, and handymen (electricians, mechanics, drivers) directly to their village profile.</a:t>
            </a:r>
          </a:p>
          <a:p>
            <a:pPr>
              <a:spcBef>
                <a:spcPts val="1200"/>
              </a:spcBef>
              <a:spcAft>
                <a:spcPts val="1000"/>
              </a:spcAft>
              <a:defRPr sz="1200">
                <a:solidFill>
                  <a:srgbClr val="212121"/>
                </a:solidFill>
              </a:defRPr>
            </a:pPr>
            <a:r>
              <a:t>✔  A zero-commission mobile marketplace where local buyers and sellers connect instantly, keeping revenues inside the village ecosystem.</a:t>
            </a:r>
          </a:p>
        </p:txBody>
      </p:sp>
      <p:sp>
        <p:nvSpPr>
          <p:cNvPr id="7" name="Rectangle 6"/>
          <p:cNvSpPr/>
          <p:nvPr/>
        </p:nvSpPr>
        <p:spPr>
          <a:xfrm>
            <a:off x="11064240" y="6327648"/>
            <a:ext cx="822960" cy="502920"/>
          </a:xfrm>
          <a:prstGeom prst="rect">
            <a:avLst/>
          </a:prstGeom>
          <a:solidFill>
            <a:srgbClr val="7253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3550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uildverse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82296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7253C0"/>
                </a:solidFill>
                <a:latin typeface="Arial"/>
              </a:defRPr>
            </a:pPr>
            <a:r>
              <a:t>PROPOSED SOLUTION &amp; INNOVATION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74552" cy="18288"/>
          </a:xfrm>
          <a:prstGeom prst="rect">
            <a:avLst/>
          </a:prstGeom>
          <a:solidFill>
            <a:srgbClr val="E04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7253C0"/>
                </a:solidFill>
              </a:defRPr>
            </a:pPr>
            <a:r>
              <a:t>GramMitra AI: A Single Conversational Access Point</a:t>
            </a:r>
          </a:p>
          <a:p>
            <a:pPr>
              <a:defRPr sz="1300" i="1">
                <a:solidFill>
                  <a:srgbClr val="E040FB"/>
                </a:solidFill>
              </a:defRPr>
            </a:pPr>
            <a:r>
              <a:t>Consolidating agriculture, retail, directories, and labor services into one beautiful web application.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377440"/>
            <a:ext cx="3474720" cy="3657600"/>
          </a:xfrm>
          <a:prstGeom prst="roundRect">
            <a:avLst/>
          </a:prstGeom>
          <a:solidFill>
            <a:srgbClr val="F8F8FA"/>
          </a:solidFill>
          <a:ln w="19050">
            <a:solidFill>
              <a:srgbClr val="7253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1500"/>
              </a:spcAft>
              <a:defRPr sz="1500" b="1">
                <a:solidFill>
                  <a:srgbClr val="7253C0"/>
                </a:solidFill>
              </a:defRPr>
            </a:pPr>
            <a:r>
              <a:t>Conversational Voice Assistant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100">
                <a:solidFill>
                  <a:srgbClr val="212121"/>
                </a:solidFill>
              </a:defRPr>
            </a:pPr>
            <a:r>
              <a:t>Our primary innovation. Leverages standard HTML5 browser-native Web Speech API (STT &amp; TTS) alongside Google Gemini 2.5 Flash to provide high-quality bilingual (Hindi/English) voice replies. Zero API transcription runtime cost! Displays dynamic local cards instantly based on queries.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2377440"/>
            <a:ext cx="3474720" cy="3657600"/>
          </a:xfrm>
          <a:prstGeom prst="roundRect">
            <a:avLst/>
          </a:prstGeom>
          <a:solidFill>
            <a:srgbClr val="F8F8FA"/>
          </a:solidFill>
          <a:ln w="19050">
            <a:solidFill>
              <a:srgbClr val="7253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1500"/>
              </a:spcAft>
              <a:defRPr sz="1500" b="1">
                <a:solidFill>
                  <a:srgbClr val="7253C0"/>
                </a:solidFill>
              </a:defRPr>
            </a:pPr>
            <a:r>
              <a:t>Direct Mandi &amp; Labor Registry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100">
                <a:solidFill>
                  <a:srgbClr val="212121"/>
                </a:solidFill>
              </a:defRPr>
            </a:pPr>
            <a:r>
              <a:t>A commission-free local marketplace. Farmers and shopkeepers can open virtual shops and list produce directly to buyers. A localized skilled labor registry lets villagers easily hire local handymen (electricians, mechanics, plumbers) and view work listings.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1000" y="2377440"/>
            <a:ext cx="3474720" cy="3657600"/>
          </a:xfrm>
          <a:prstGeom prst="roundRect">
            <a:avLst/>
          </a:prstGeom>
          <a:solidFill>
            <a:srgbClr val="F8F8FA"/>
          </a:solidFill>
          <a:ln w="19050">
            <a:solidFill>
              <a:srgbClr val="7253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1500"/>
              </a:spcAft>
              <a:defRPr sz="1500" b="1">
                <a:solidFill>
                  <a:srgbClr val="7253C0"/>
                </a:solidFill>
              </a:defRPr>
            </a:pPr>
            <a:r>
              <a:t>Dynamic Amenities Locator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100">
                <a:solidFill>
                  <a:srgbClr val="212121"/>
                </a:solidFill>
              </a:defRPr>
            </a:pPr>
            <a:r>
              <a:t>Integrates full village infrastructure profiles. Automatically returns localized services (distance to nearest hospitals, school medium, and local school directories) via conversational query analysis.</a:t>
            </a:r>
          </a:p>
        </p:txBody>
      </p:sp>
      <p:sp>
        <p:nvSpPr>
          <p:cNvPr id="9" name="Rectangle 8"/>
          <p:cNvSpPr/>
          <p:nvPr/>
        </p:nvSpPr>
        <p:spPr>
          <a:xfrm>
            <a:off x="11064240" y="6327648"/>
            <a:ext cx="822960" cy="502920"/>
          </a:xfrm>
          <a:prstGeom prst="rect">
            <a:avLst/>
          </a:prstGeom>
          <a:solidFill>
            <a:srgbClr val="7253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0" y="63550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uildverse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82296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7253C0"/>
                </a:solidFill>
                <a:latin typeface="Arial"/>
              </a:defRPr>
            </a:pPr>
            <a:r>
              <a:t>TECHNICAL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74552" cy="18288"/>
          </a:xfrm>
          <a:prstGeom prst="rect">
            <a:avLst/>
          </a:prstGeom>
          <a:solidFill>
            <a:srgbClr val="E04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63040"/>
            <a:ext cx="108173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7253C0"/>
                </a:solidFill>
              </a:defRPr>
            </a:pPr>
            <a:r>
              <a:t>Robust, Secure &amp; Multi-Tier MERN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011680"/>
            <a:ext cx="3200400" cy="822960"/>
          </a:xfrm>
          <a:prstGeom prst="rect">
            <a:avLst/>
          </a:prstGeom>
          <a:solidFill>
            <a:srgbClr val="7253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Presentation Layer (Vite &amp; React)</a:t>
            </a:r>
          </a:p>
        </p:txBody>
      </p:sp>
      <p:sp>
        <p:nvSpPr>
          <p:cNvPr id="7" name="Rectangle 6"/>
          <p:cNvSpPr/>
          <p:nvPr/>
        </p:nvSpPr>
        <p:spPr>
          <a:xfrm>
            <a:off x="3977639" y="2011680"/>
            <a:ext cx="7498079" cy="822960"/>
          </a:xfrm>
          <a:prstGeom prst="rect">
            <a:avLst/>
          </a:prstGeom>
          <a:solidFill>
            <a:srgbClr val="F8F8FA"/>
          </a:solidFill>
          <a:ln w="12700">
            <a:solidFill>
              <a:srgbClr val="7253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100">
                <a:solidFill>
                  <a:srgbClr val="212121"/>
                </a:solidFill>
              </a:defRPr>
            </a:pPr>
            <a:r>
              <a:t>Frontend interface rendering visual states with Framer Motion. Uses a root-level Portal for the Voice Assistant to ensure floating alignment. Combines HTML5 Web Speech APIs.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3017520"/>
            <a:ext cx="3200400" cy="822960"/>
          </a:xfrm>
          <a:prstGeom prst="rect">
            <a:avLst/>
          </a:prstGeom>
          <a:solidFill>
            <a:srgbClr val="7253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Application Core (Node.js &amp; Express)</a:t>
            </a:r>
          </a:p>
        </p:txBody>
      </p:sp>
      <p:sp>
        <p:nvSpPr>
          <p:cNvPr id="9" name="Rectangle 8"/>
          <p:cNvSpPr/>
          <p:nvPr/>
        </p:nvSpPr>
        <p:spPr>
          <a:xfrm>
            <a:off x="3977639" y="3017520"/>
            <a:ext cx="7498079" cy="822960"/>
          </a:xfrm>
          <a:prstGeom prst="rect">
            <a:avLst/>
          </a:prstGeom>
          <a:solidFill>
            <a:srgbClr val="F8F8FA"/>
          </a:solidFill>
          <a:ln w="12700">
            <a:solidFill>
              <a:srgbClr val="7253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100">
                <a:solidFill>
                  <a:srgbClr val="212121"/>
                </a:solidFill>
              </a:defRPr>
            </a:pPr>
            <a:r>
              <a:t>Bridges communication requests. Directs requests locally to MongoDB for known directories (e.g. hospitals, schools) and routes general vernacular advice requests to Gemini.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4023360"/>
            <a:ext cx="3200400" cy="822960"/>
          </a:xfrm>
          <a:prstGeom prst="rect">
            <a:avLst/>
          </a:prstGeom>
          <a:solidFill>
            <a:srgbClr val="7253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AI Core (Gemini 2.5 Flash)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77639" y="4023360"/>
            <a:ext cx="7498079" cy="822960"/>
          </a:xfrm>
          <a:prstGeom prst="rect">
            <a:avLst/>
          </a:prstGeom>
          <a:solidFill>
            <a:srgbClr val="F8F8FA"/>
          </a:solidFill>
          <a:ln w="12700">
            <a:solidFill>
              <a:srgbClr val="7253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100">
                <a:solidFill>
                  <a:srgbClr val="212121"/>
                </a:solidFill>
              </a:defRPr>
            </a:pPr>
            <a:r>
              <a:t>Google Gemini 2.5 Flash API. Secured server-side via Node environment configurations. Processes raw transcripts in Hindi and English, producing dynamic responsive outputs.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5029200"/>
            <a:ext cx="3200400" cy="822960"/>
          </a:xfrm>
          <a:prstGeom prst="rect">
            <a:avLst/>
          </a:prstGeom>
          <a:solidFill>
            <a:srgbClr val="7253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Persistence Layer (MongoDB Atlas)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77639" y="5029200"/>
            <a:ext cx="7498079" cy="822960"/>
          </a:xfrm>
          <a:prstGeom prst="rect">
            <a:avLst/>
          </a:prstGeom>
          <a:solidFill>
            <a:srgbClr val="F8F8FA"/>
          </a:solidFill>
          <a:ln w="12700">
            <a:solidFill>
              <a:srgbClr val="7253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100">
                <a:solidFill>
                  <a:srgbClr val="212121"/>
                </a:solidFill>
              </a:defRPr>
            </a:pPr>
            <a:r>
              <a:t>Standard Mongoose schemas for village profiles, hospitals/schools directory lists, mandi trade product cards, job boards, and cataloged government schemes.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064240" y="6327648"/>
            <a:ext cx="822960" cy="502920"/>
          </a:xfrm>
          <a:prstGeom prst="rect">
            <a:avLst/>
          </a:prstGeom>
          <a:solidFill>
            <a:srgbClr val="7253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0" y="63550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uildverse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82296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7253C0"/>
                </a:solidFill>
                <a:latin typeface="Arial"/>
              </a:defRPr>
            </a:pPr>
            <a:r>
              <a:t>PROCESS FLOW DIAGRAM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74552" cy="18288"/>
          </a:xfrm>
          <a:prstGeom prst="rect">
            <a:avLst/>
          </a:prstGeom>
          <a:solidFill>
            <a:srgbClr val="E04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63040"/>
            <a:ext cx="108173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7253C0"/>
                </a:solidFill>
              </a:defRPr>
            </a:pPr>
            <a:r>
              <a:t>Voice Assistant Processing &amp; Routing Pipeline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103120"/>
            <a:ext cx="3291840" cy="1920240"/>
          </a:xfrm>
          <a:prstGeom prst="roundRect">
            <a:avLst/>
          </a:prstGeom>
          <a:solidFill>
            <a:srgbClr val="F8F8FA"/>
          </a:solidFill>
          <a:ln w="19050">
            <a:solidFill>
              <a:srgbClr val="E04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7253C0"/>
                </a:solidFill>
              </a:defRPr>
            </a:pPr>
            <a:r>
              <a:t>1. Mic Input</a:t>
            </a:r>
          </a:p>
          <a:p>
            <a:pPr>
              <a:spcBef>
                <a:spcPts val="200"/>
              </a:spcBef>
              <a:defRPr sz="1000">
                <a:solidFill>
                  <a:srgbClr val="212121"/>
                </a:solidFill>
              </a:defRPr>
            </a:pPr>
            <a:r>
              <a:t>Villager taps the mic in the top navbar and speaks in their native tongue (Hindi or English).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2103120"/>
            <a:ext cx="3291840" cy="1920240"/>
          </a:xfrm>
          <a:prstGeom prst="roundRect">
            <a:avLst/>
          </a:prstGeom>
          <a:solidFill>
            <a:srgbClr val="F8F8FA"/>
          </a:solidFill>
          <a:ln w="19050">
            <a:solidFill>
              <a:srgbClr val="E04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7253C0"/>
                </a:solidFill>
              </a:defRPr>
            </a:pPr>
            <a:r>
              <a:t>2. Transcribe</a:t>
            </a:r>
          </a:p>
          <a:p>
            <a:pPr>
              <a:spcBef>
                <a:spcPts val="200"/>
              </a:spcBef>
              <a:defRPr sz="1000">
                <a:solidFill>
                  <a:srgbClr val="212121"/>
                </a:solidFill>
              </a:defRPr>
            </a:pPr>
            <a:r>
              <a:t>Browser's Web Speech API instantly transcribes audio input to raw text offline on device.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1000" y="2103120"/>
            <a:ext cx="3291840" cy="1920240"/>
          </a:xfrm>
          <a:prstGeom prst="roundRect">
            <a:avLst/>
          </a:prstGeom>
          <a:solidFill>
            <a:srgbClr val="F8F8FA"/>
          </a:solidFill>
          <a:ln w="19050">
            <a:solidFill>
              <a:srgbClr val="E04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7253C0"/>
                </a:solidFill>
              </a:defRPr>
            </a:pPr>
            <a:r>
              <a:t>3. Query Parser</a:t>
            </a:r>
          </a:p>
          <a:p>
            <a:pPr>
              <a:spcBef>
                <a:spcPts val="200"/>
              </a:spcBef>
              <a:defRPr sz="1000">
                <a:solidFill>
                  <a:srgbClr val="212121"/>
                </a:solidFill>
              </a:defRPr>
            </a:pPr>
            <a:r>
              <a:t>Express backend parses text to identify key intent (e.g. 'hospital', 'farmer', 'mandi').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4206240"/>
            <a:ext cx="3291840" cy="1920240"/>
          </a:xfrm>
          <a:prstGeom prst="roundRect">
            <a:avLst/>
          </a:prstGeom>
          <a:solidFill>
            <a:srgbClr val="F8F8FA"/>
          </a:solidFill>
          <a:ln w="19050">
            <a:solidFill>
              <a:srgbClr val="E04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7253C0"/>
                </a:solidFill>
              </a:defRPr>
            </a:pPr>
            <a:r>
              <a:t>4. Local Lookup</a:t>
            </a:r>
          </a:p>
          <a:p>
            <a:pPr>
              <a:spcBef>
                <a:spcPts val="200"/>
              </a:spcBef>
              <a:defRPr sz="1000">
                <a:solidFill>
                  <a:srgbClr val="212121"/>
                </a:solidFill>
              </a:defRPr>
            </a:pPr>
            <a:r>
              <a:t>If intent is directory-bound, queries localized MongoDB village directories directly.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4206240"/>
            <a:ext cx="3291840" cy="1920240"/>
          </a:xfrm>
          <a:prstGeom prst="roundRect">
            <a:avLst/>
          </a:prstGeom>
          <a:solidFill>
            <a:srgbClr val="F8F8FA"/>
          </a:solidFill>
          <a:ln w="19050">
            <a:solidFill>
              <a:srgbClr val="E04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7253C0"/>
                </a:solidFill>
              </a:defRPr>
            </a:pPr>
            <a:r>
              <a:t>5. General Query</a:t>
            </a:r>
          </a:p>
          <a:p>
            <a:pPr>
              <a:spcBef>
                <a:spcPts val="200"/>
              </a:spcBef>
              <a:defRPr sz="1000">
                <a:solidFill>
                  <a:srgbClr val="212121"/>
                </a:solidFill>
              </a:defRPr>
            </a:pPr>
            <a:r>
              <a:t>If intent is general advice, sends prompts through Gemini 2.5 Flash secure backend API.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4206240"/>
            <a:ext cx="3291840" cy="1920240"/>
          </a:xfrm>
          <a:prstGeom prst="roundRect">
            <a:avLst/>
          </a:prstGeom>
          <a:solidFill>
            <a:srgbClr val="F8F8FA"/>
          </a:solidFill>
          <a:ln w="19050">
            <a:solidFill>
              <a:srgbClr val="E04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7253C0"/>
                </a:solidFill>
              </a:defRPr>
            </a:pPr>
            <a:r>
              <a:t>6. Synthesize (TTS)</a:t>
            </a:r>
          </a:p>
          <a:p>
            <a:pPr>
              <a:spcBef>
                <a:spcPts val="200"/>
              </a:spcBef>
              <a:defRPr sz="1000">
                <a:solidFill>
                  <a:srgbClr val="212121"/>
                </a:solidFill>
              </a:defRPr>
            </a:pPr>
            <a:r>
              <a:t>Card output renders on the screen, while Speech Synthesis speaks the answer out loud.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064240" y="6327648"/>
            <a:ext cx="822960" cy="502920"/>
          </a:xfrm>
          <a:prstGeom prst="rect">
            <a:avLst/>
          </a:prstGeom>
          <a:solidFill>
            <a:srgbClr val="7253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0" y="63550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uildverse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82296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7253C0"/>
                </a:solidFill>
                <a:latin typeface="Arial"/>
              </a:defRPr>
            </a:pPr>
            <a:r>
              <a:t>IMPLEMENTATION METHODOLOGY &amp; FEASIBILITY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74552" cy="18288"/>
          </a:xfrm>
          <a:prstGeom prst="rect">
            <a:avLst/>
          </a:prstGeom>
          <a:solidFill>
            <a:srgbClr val="E04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 b="1">
                <a:solidFill>
                  <a:srgbClr val="7253C0"/>
                </a:solidFill>
              </a:defRPr>
            </a:pPr>
            <a:r>
              <a:t>Implementation Roadmap (10-Week Deployment)</a:t>
            </a:r>
          </a:p>
          <a:p>
            <a:pPr>
              <a:spcBef>
                <a:spcPts val="800"/>
              </a:spcBef>
              <a:defRPr sz="1200" b="1">
                <a:solidFill>
                  <a:srgbClr val="7253C0"/>
                </a:solidFill>
              </a:defRPr>
            </a:pPr>
            <a:r>
              <a:t>📍 Phase 1 - Research &amp; Local Database Seeding (W1-2) :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050">
                <a:solidFill>
                  <a:srgbClr val="212121"/>
                </a:solidFill>
              </a:defRPr>
            </a:pPr>
            <a:r>
              <a:t>Establish normalized schemas and seed localized infrastructure directories (district schools, healthcare networks, village workers).</a:t>
            </a:r>
          </a:p>
          <a:p>
            <a:pPr>
              <a:spcBef>
                <a:spcPts val="800"/>
              </a:spcBef>
              <a:defRPr sz="1200" b="1">
                <a:solidFill>
                  <a:srgbClr val="7253C0"/>
                </a:solidFill>
              </a:defRPr>
            </a:pPr>
            <a:r>
              <a:t>📍 Phase 2 - Core MERN Platform Development (W3-5) :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050">
                <a:solidFill>
                  <a:srgbClr val="212121"/>
                </a:solidFill>
              </a:defRPr>
            </a:pPr>
            <a:r>
              <a:t>Design and construct primary modules including Mandi marketplace, labor directories, and government schemes catalog.</a:t>
            </a:r>
          </a:p>
          <a:p>
            <a:pPr>
              <a:spcBef>
                <a:spcPts val="800"/>
              </a:spcBef>
              <a:defRPr sz="1200" b="1">
                <a:solidFill>
                  <a:srgbClr val="7253C0"/>
                </a:solidFill>
              </a:defRPr>
            </a:pPr>
            <a:r>
              <a:t>📍 Phase 3 - Vernacular Voice &amp; AI Integration (W6-8) :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050">
                <a:solidFill>
                  <a:srgbClr val="212121"/>
                </a:solidFill>
              </a:defRPr>
            </a:pPr>
            <a:r>
              <a:t>Implement Web Speech STT/TTS modules and secure server-side Gemini 2.5 Flash coordinators with fallback filters.</a:t>
            </a:r>
          </a:p>
          <a:p>
            <a:pPr>
              <a:spcBef>
                <a:spcPts val="800"/>
              </a:spcBef>
              <a:defRPr sz="1200" b="1">
                <a:solidFill>
                  <a:srgbClr val="7253C0"/>
                </a:solidFill>
              </a:defRPr>
            </a:pPr>
            <a:r>
              <a:t>📍 Phase 4 - Field Testing &amp; Public Deployment (W9-10) :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050">
                <a:solidFill>
                  <a:srgbClr val="212121"/>
                </a:solidFill>
              </a:defRPr>
            </a:pPr>
            <a:r>
              <a:t>Test directly with village focus groups, optimize speech parameters, and launch the platform publicly.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645920"/>
            <a:ext cx="4572000" cy="4297680"/>
          </a:xfrm>
          <a:prstGeom prst="roundRect">
            <a:avLst/>
          </a:prstGeom>
          <a:solidFill>
            <a:srgbClr val="F8F8FA"/>
          </a:solidFill>
          <a:ln w="19050">
            <a:solidFill>
              <a:srgbClr val="E04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1500"/>
              </a:spcAft>
              <a:defRPr sz="1800" b="1">
                <a:solidFill>
                  <a:srgbClr val="7253C0"/>
                </a:solidFill>
              </a:defRPr>
            </a:pPr>
            <a:r>
              <a:t>FEASIBILITY ANALYSIS</a:t>
            </a:r>
          </a:p>
          <a:p>
            <a:pPr>
              <a:spcBef>
                <a:spcPts val="800"/>
              </a:spcBef>
              <a:defRPr sz="1200" b="1">
                <a:solidFill>
                  <a:srgbClr val="7253C0"/>
                </a:solidFill>
              </a:defRPr>
            </a:pPr>
            <a:r>
              <a:t>🚀 Technical Feasibility :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212121"/>
                </a:solidFill>
              </a:defRPr>
            </a:pPr>
            <a:r>
              <a:t>HTML5 Speech API holds universal, offline-capable support on Chrome/Edge browsers (desktop and mobile), minimizing server load and latency.</a:t>
            </a:r>
          </a:p>
          <a:p>
            <a:pPr>
              <a:spcBef>
                <a:spcPts val="800"/>
              </a:spcBef>
              <a:defRPr sz="1200" b="1">
                <a:solidFill>
                  <a:srgbClr val="7253C0"/>
                </a:solidFill>
              </a:defRPr>
            </a:pPr>
            <a:r>
              <a:t>🚀 Economic Feasibility :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212121"/>
                </a:solidFill>
              </a:defRPr>
            </a:pPr>
            <a:r>
              <a:t>By routing simple commands locally and relying on Gemini's highly optimized, free-tier services, operational and API transcription costs are close to zero.</a:t>
            </a:r>
          </a:p>
          <a:p>
            <a:pPr>
              <a:spcBef>
                <a:spcPts val="800"/>
              </a:spcBef>
              <a:defRPr sz="1200" b="1">
                <a:solidFill>
                  <a:srgbClr val="7253C0"/>
                </a:solidFill>
              </a:defRPr>
            </a:pPr>
            <a:r>
              <a:t>🚀 Social Feasibility :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212121"/>
                </a:solidFill>
              </a:defRPr>
            </a:pPr>
            <a:r>
              <a:t>Designed specifically for accessibility: spoken outputs in Hindi/English remove literacy barriers, making digital tools practical for all villagers.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11064240" y="6327648"/>
            <a:ext cx="822960" cy="502920"/>
          </a:xfrm>
          <a:prstGeom prst="rect">
            <a:avLst/>
          </a:prstGeom>
          <a:solidFill>
            <a:srgbClr val="7253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3550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uildverse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82296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7253C0"/>
                </a:solidFill>
                <a:latin typeface="Arial"/>
              </a:defRPr>
            </a:pPr>
            <a:r>
              <a:t>WORKING PROTOTYPE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74552" cy="18288"/>
          </a:xfrm>
          <a:prstGeom prst="rect">
            <a:avLst/>
          </a:prstGeom>
          <a:solidFill>
            <a:srgbClr val="E04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63040"/>
            <a:ext cx="108173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7253C0"/>
                </a:solidFill>
              </a:defRPr>
            </a:pPr>
            <a:r>
              <a:t>Widescreen Showcase of Core Prototype Features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103120"/>
            <a:ext cx="5120640" cy="2011680"/>
          </a:xfrm>
          <a:prstGeom prst="roundRect">
            <a:avLst/>
          </a:prstGeom>
          <a:solidFill>
            <a:srgbClr val="F8F8FA"/>
          </a:solidFill>
          <a:ln w="19050">
            <a:solidFill>
              <a:srgbClr val="7253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7253C0"/>
                </a:solidFill>
              </a:defRPr>
            </a:pPr>
            <a:r>
              <a:t>📱  Bilingual Voice Assistant</a:t>
            </a:r>
          </a:p>
          <a:p>
            <a:pPr>
              <a:spcBef>
                <a:spcPts val="200"/>
              </a:spcBef>
              <a:defRPr sz="1100">
                <a:solidFill>
                  <a:srgbClr val="212121"/>
                </a:solidFill>
              </a:defRPr>
            </a:pPr>
            <a:r>
              <a:t>Sliding glassmorphic drawer rendered securely via portal. Features real-time voice inputs, visual audio wave pulses, mute controls, history clearing, and dynamic, collapsible suggestion chips containing quick prompts based on the current page route with a down arrow for hiding.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2103120"/>
            <a:ext cx="5120640" cy="2011680"/>
          </a:xfrm>
          <a:prstGeom prst="roundRect">
            <a:avLst/>
          </a:prstGeom>
          <a:solidFill>
            <a:srgbClr val="F8F8FA"/>
          </a:solidFill>
          <a:ln w="19050">
            <a:solidFill>
              <a:srgbClr val="7253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7253C0"/>
                </a:solidFill>
              </a:defRPr>
            </a:pPr>
            <a:r>
              <a:t>📱  Farmer AI Advisor</a:t>
            </a:r>
          </a:p>
          <a:p>
            <a:pPr>
              <a:spcBef>
                <a:spcPts val="200"/>
              </a:spcBef>
              <a:defRPr sz="1100">
                <a:solidFill>
                  <a:srgbClr val="212121"/>
                </a:solidFill>
              </a:defRPr>
            </a:pPr>
            <a:r>
              <a:t>Custom farming diagnostics page combining local daily weather forecasts, crop advisory metrics, and dynamic soil recommendation calculations in simple cards.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4297680"/>
            <a:ext cx="5120640" cy="2011680"/>
          </a:xfrm>
          <a:prstGeom prst="roundRect">
            <a:avLst/>
          </a:prstGeom>
          <a:solidFill>
            <a:srgbClr val="F8F8FA"/>
          </a:solidFill>
          <a:ln w="19050">
            <a:solidFill>
              <a:srgbClr val="7253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7253C0"/>
                </a:solidFill>
              </a:defRPr>
            </a:pPr>
            <a:r>
              <a:t>📱  Mandi Trade Marketplace</a:t>
            </a:r>
          </a:p>
          <a:p>
            <a:pPr>
              <a:spcBef>
                <a:spcPts val="200"/>
              </a:spcBef>
              <a:defRPr sz="1100">
                <a:solidFill>
                  <a:srgbClr val="212121"/>
                </a:solidFill>
              </a:defRPr>
            </a:pPr>
            <a:r>
              <a:t>A fully functional marketplace allowing farmers to list crop stock, set direct trade prices, upload item descriptions, and chat without commission cuts.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4297680"/>
            <a:ext cx="5120640" cy="2011680"/>
          </a:xfrm>
          <a:prstGeom prst="roundRect">
            <a:avLst/>
          </a:prstGeom>
          <a:solidFill>
            <a:srgbClr val="F8F8FA"/>
          </a:solidFill>
          <a:ln w="19050">
            <a:solidFill>
              <a:srgbClr val="7253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7253C0"/>
                </a:solidFill>
              </a:defRPr>
            </a:pPr>
            <a:r>
              <a:t>📱  Amenities &amp; Local Directories</a:t>
            </a:r>
          </a:p>
          <a:p>
            <a:pPr>
              <a:spcBef>
                <a:spcPts val="200"/>
              </a:spcBef>
              <a:defRPr sz="1100">
                <a:solidFill>
                  <a:srgbClr val="212121"/>
                </a:solidFill>
              </a:defRPr>
            </a:pPr>
            <a:r>
              <a:t>Full map directories of Government and Private schools (and instruction mediums), healthcare hospitals (and bed counts), and village skilled handymen.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064240" y="6327648"/>
            <a:ext cx="822960" cy="502920"/>
          </a:xfrm>
          <a:prstGeom prst="rect">
            <a:avLst/>
          </a:prstGeom>
          <a:solidFill>
            <a:srgbClr val="7253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0" y="63550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Arial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uildverse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82296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7253C0"/>
                </a:solidFill>
                <a:latin typeface="Arial"/>
              </a:defRPr>
            </a:pPr>
            <a:r>
              <a:t>SOCIAL IMPACT &amp; TARGET AUDIENCE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74552" cy="18288"/>
          </a:xfrm>
          <a:prstGeom prst="rect">
            <a:avLst/>
          </a:prstGeom>
          <a:solidFill>
            <a:srgbClr val="E04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63040"/>
            <a:ext cx="108173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7253C0"/>
                </a:solidFill>
              </a:defRPr>
            </a:pPr>
            <a:r>
              <a:t>Direct Upliftment &amp; Multi-Dimensional Empowerment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103120"/>
            <a:ext cx="3474720" cy="3931920"/>
          </a:xfrm>
          <a:prstGeom prst="roundRect">
            <a:avLst/>
          </a:prstGeom>
          <a:solidFill>
            <a:srgbClr val="F8F8FA"/>
          </a:solidFill>
          <a:ln w="19050">
            <a:solidFill>
              <a:srgbClr val="7253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1500"/>
              </a:spcAft>
              <a:defRPr sz="1500" b="1">
                <a:solidFill>
                  <a:srgbClr val="7253C0"/>
                </a:solidFill>
              </a:defRPr>
            </a:pPr>
            <a:r>
              <a:t>🌟  Financial Empowerment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100">
                <a:solidFill>
                  <a:srgbClr val="212121"/>
                </a:solidFill>
              </a:defRPr>
            </a:pPr>
            <a:r>
              <a:t>Eliminates mandi middleman pricing exploitation. Farmers and rural micro-businesses keep 100% of their trade revenues. Directly links skilled handymen to localized employment vacancies.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2103120"/>
            <a:ext cx="3474720" cy="3931920"/>
          </a:xfrm>
          <a:prstGeom prst="roundRect">
            <a:avLst/>
          </a:prstGeom>
          <a:solidFill>
            <a:srgbClr val="F8F8FA"/>
          </a:solidFill>
          <a:ln w="19050">
            <a:solidFill>
              <a:srgbClr val="7253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1500"/>
              </a:spcAft>
              <a:defRPr sz="1500" b="1">
                <a:solidFill>
                  <a:srgbClr val="7253C0"/>
                </a:solidFill>
              </a:defRPr>
            </a:pPr>
            <a:r>
              <a:t>🌟  Inclusivity &amp; Accessibility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100">
                <a:solidFill>
                  <a:srgbClr val="212121"/>
                </a:solidFill>
              </a:defRPr>
            </a:pPr>
            <a:r>
              <a:t>Democratizes artificial intelligence for non-literate, elderly, and visually impaired villagers. Standardizes native voice control in Hindi, bringing AI to the grassroots level.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1000" y="2103120"/>
            <a:ext cx="3474720" cy="3931920"/>
          </a:xfrm>
          <a:prstGeom prst="roundRect">
            <a:avLst/>
          </a:prstGeom>
          <a:solidFill>
            <a:srgbClr val="F8F8FA"/>
          </a:solidFill>
          <a:ln w="19050">
            <a:solidFill>
              <a:srgbClr val="7253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1500"/>
              </a:spcAft>
              <a:defRPr sz="1500" b="1">
                <a:solidFill>
                  <a:srgbClr val="7253C0"/>
                </a:solidFill>
              </a:defRPr>
            </a:pPr>
            <a:r>
              <a:t>🌟  Informed Rural Healthcare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100">
                <a:solidFill>
                  <a:srgbClr val="212121"/>
                </a:solidFill>
              </a:defRPr>
            </a:pPr>
            <a:r>
              <a:t>Ensures immediate, localized, and actionable healthcare info, providing rapid symptom diagnostics and mapping distances to nearest hospital bed facilities in emergencies.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11064240" y="6327648"/>
            <a:ext cx="822960" cy="502920"/>
          </a:xfrm>
          <a:prstGeom prst="rect">
            <a:avLst/>
          </a:prstGeom>
          <a:solidFill>
            <a:srgbClr val="7253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0" y="63550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Arial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